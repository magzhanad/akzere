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83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4DBCFD-1FBA-4005-A1C9-C8890CFDE2D4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1B5861C-BCF7-4BA0-846F-D70AD030131D}">
      <dgm:prSet/>
      <dgm:spPr/>
      <dgm:t>
        <a:bodyPr/>
        <a:lstStyle/>
        <a:p>
          <a:r>
            <a:rPr lang="kk-KZ" dirty="0"/>
            <a:t>МДҰ мен мектепалды сыныптарда балалардың қауіпсіз болуын қамтамасыз ету; </a:t>
          </a:r>
          <a:endParaRPr lang="en-US" dirty="0"/>
        </a:p>
      </dgm:t>
    </dgm:pt>
    <dgm:pt modelId="{BC61CF83-437E-4878-B7D1-577AE21C8637}" type="parTrans" cxnId="{0D50132C-63ED-42CE-B33E-5423A98D4B0D}">
      <dgm:prSet/>
      <dgm:spPr/>
      <dgm:t>
        <a:bodyPr/>
        <a:lstStyle/>
        <a:p>
          <a:endParaRPr lang="en-US"/>
        </a:p>
      </dgm:t>
    </dgm:pt>
    <dgm:pt modelId="{8BD6A796-1C6C-4CA0-9BD6-9B2517859606}" type="sibTrans" cxnId="{0D50132C-63ED-42CE-B33E-5423A98D4B0D}">
      <dgm:prSet/>
      <dgm:spPr/>
      <dgm:t>
        <a:bodyPr/>
        <a:lstStyle/>
        <a:p>
          <a:endParaRPr lang="en-US"/>
        </a:p>
      </dgm:t>
    </dgm:pt>
    <dgm:pt modelId="{D10CEC3D-249E-47EF-B29A-B71714DC2C89}">
      <dgm:prSet/>
      <dgm:spPr/>
      <dgm:t>
        <a:bodyPr/>
        <a:lstStyle/>
        <a:p>
          <a:r>
            <a:rPr lang="ru-RU"/>
            <a:t>оқыту басқа тілде жүргізілетін мектепке дейінгі ұйымдарда «Тілге бойлау» бағдарламасын жаппай іске асыру; </a:t>
          </a:r>
          <a:endParaRPr lang="en-US"/>
        </a:p>
      </dgm:t>
    </dgm:pt>
    <dgm:pt modelId="{96999448-BA76-48E8-B544-2FE1F911CEB3}" type="parTrans" cxnId="{FC92E258-AA80-45FF-88BB-053BD91B0620}">
      <dgm:prSet/>
      <dgm:spPr/>
      <dgm:t>
        <a:bodyPr/>
        <a:lstStyle/>
        <a:p>
          <a:endParaRPr lang="en-US"/>
        </a:p>
      </dgm:t>
    </dgm:pt>
    <dgm:pt modelId="{59851393-5E31-41DD-9457-8E0CB5755C41}" type="sibTrans" cxnId="{FC92E258-AA80-45FF-88BB-053BD91B0620}">
      <dgm:prSet/>
      <dgm:spPr/>
      <dgm:t>
        <a:bodyPr/>
        <a:lstStyle/>
        <a:p>
          <a:endParaRPr lang="en-US"/>
        </a:p>
      </dgm:t>
    </dgm:pt>
    <dgm:pt modelId="{563B8211-988D-44B9-B4F2-20974F821A5E}">
      <dgm:prSet/>
      <dgm:spPr/>
      <dgm:t>
        <a:bodyPr/>
        <a:lstStyle/>
        <a:p>
          <a:r>
            <a:rPr lang="ru-RU"/>
            <a:t>«Жасыл балабақша» желісін кеңейту - экологиялық білім беру және экологиялық мәдениетті қалыптастыру; </a:t>
          </a:r>
          <a:endParaRPr lang="en-US"/>
        </a:p>
      </dgm:t>
    </dgm:pt>
    <dgm:pt modelId="{BDF0BB30-85ED-4C22-9574-D183789667CD}" type="parTrans" cxnId="{2B0D3DD0-A690-457E-8FCD-7D5D77D87208}">
      <dgm:prSet/>
      <dgm:spPr/>
      <dgm:t>
        <a:bodyPr/>
        <a:lstStyle/>
        <a:p>
          <a:endParaRPr lang="en-US"/>
        </a:p>
      </dgm:t>
    </dgm:pt>
    <dgm:pt modelId="{48D13015-2223-4065-B5E3-7CAD6143A886}" type="sibTrans" cxnId="{2B0D3DD0-A690-457E-8FCD-7D5D77D87208}">
      <dgm:prSet/>
      <dgm:spPr/>
      <dgm:t>
        <a:bodyPr/>
        <a:lstStyle/>
        <a:p>
          <a:endParaRPr lang="en-US"/>
        </a:p>
      </dgm:t>
    </dgm:pt>
    <dgm:pt modelId="{37EB7A3B-40EB-4533-9A1E-5901D26FDC8B}">
      <dgm:prSet/>
      <dgm:spPr/>
      <dgm:t>
        <a:bodyPr/>
        <a:lstStyle/>
        <a:p>
          <a:r>
            <a:rPr lang="kk-KZ"/>
            <a:t>Ата-аналарға арналған консультациялық пункттердің жұмысын жетілдіру. </a:t>
          </a:r>
          <a:r>
            <a:rPr lang="ru-RU"/>
            <a:t>Мобильді консультациялық пункттер бойынша «Тәрбие бесігі» жобасын іске асыру; </a:t>
          </a:r>
          <a:endParaRPr lang="en-US"/>
        </a:p>
      </dgm:t>
    </dgm:pt>
    <dgm:pt modelId="{886A575D-823E-4FBA-8DC1-DEF20CA1E18C}" type="parTrans" cxnId="{419E4424-0992-47D1-8466-0D3EBC2F8F35}">
      <dgm:prSet/>
      <dgm:spPr/>
      <dgm:t>
        <a:bodyPr/>
        <a:lstStyle/>
        <a:p>
          <a:endParaRPr lang="en-US"/>
        </a:p>
      </dgm:t>
    </dgm:pt>
    <dgm:pt modelId="{3441F145-C1AA-4533-83C8-C1F8325DE999}" type="sibTrans" cxnId="{419E4424-0992-47D1-8466-0D3EBC2F8F35}">
      <dgm:prSet/>
      <dgm:spPr/>
      <dgm:t>
        <a:bodyPr/>
        <a:lstStyle/>
        <a:p>
          <a:endParaRPr lang="en-US"/>
        </a:p>
      </dgm:t>
    </dgm:pt>
    <dgm:pt modelId="{1F3D4484-ACCA-40E4-8187-299626C2E681}">
      <dgm:prSet/>
      <dgm:spPr/>
      <dgm:t>
        <a:bodyPr/>
        <a:lstStyle/>
        <a:p>
          <a:r>
            <a:rPr lang="ru-RU"/>
            <a:t>«Беске дейін үлгер» ата-аналарға арналған мобильді қосымшасын қолдану арқылы балаларды тәрбиелеу мен дамыту мәселелері бойынша ата-аналарды ағарту; </a:t>
          </a:r>
          <a:endParaRPr lang="en-US"/>
        </a:p>
      </dgm:t>
    </dgm:pt>
    <dgm:pt modelId="{0FF4E137-C246-4E66-B523-9AC408FFCAC9}" type="parTrans" cxnId="{6E2D34F5-1320-4ABA-83F0-AA9991BACD80}">
      <dgm:prSet/>
      <dgm:spPr/>
      <dgm:t>
        <a:bodyPr/>
        <a:lstStyle/>
        <a:p>
          <a:endParaRPr lang="en-US"/>
        </a:p>
      </dgm:t>
    </dgm:pt>
    <dgm:pt modelId="{7E7DD050-BE8D-4D88-A91B-FBE7EA02B65B}" type="sibTrans" cxnId="{6E2D34F5-1320-4ABA-83F0-AA9991BACD80}">
      <dgm:prSet/>
      <dgm:spPr/>
      <dgm:t>
        <a:bodyPr/>
        <a:lstStyle/>
        <a:p>
          <a:endParaRPr lang="en-US"/>
        </a:p>
      </dgm:t>
    </dgm:pt>
    <dgm:pt modelId="{D8B2CE29-CBE4-47CD-A777-3FBB9D992F64}">
      <dgm:prSet/>
      <dgm:spPr/>
      <dgm:t>
        <a:bodyPr/>
        <a:lstStyle/>
        <a:p>
          <a:r>
            <a:rPr lang="ru-RU"/>
            <a:t>ауылдық жерлерде «Құзыреттілік орталықтары» желісін кеңейту және «Құзыреттілік орталықтары» - жеке мектепке дейінгі ұйымдар санын ұлғайту; </a:t>
          </a:r>
          <a:endParaRPr lang="en-US"/>
        </a:p>
      </dgm:t>
    </dgm:pt>
    <dgm:pt modelId="{AF80709D-0F08-44AC-B4B1-21C495FF86F5}" type="parTrans" cxnId="{D2E1444A-DC7C-450D-99CF-767CD5796927}">
      <dgm:prSet/>
      <dgm:spPr/>
      <dgm:t>
        <a:bodyPr/>
        <a:lstStyle/>
        <a:p>
          <a:endParaRPr lang="en-US"/>
        </a:p>
      </dgm:t>
    </dgm:pt>
    <dgm:pt modelId="{34DCF197-5399-4BDD-A3DC-E79216CA4B4F}" type="sibTrans" cxnId="{D2E1444A-DC7C-450D-99CF-767CD5796927}">
      <dgm:prSet/>
      <dgm:spPr/>
      <dgm:t>
        <a:bodyPr/>
        <a:lstStyle/>
        <a:p>
          <a:endParaRPr lang="en-US"/>
        </a:p>
      </dgm:t>
    </dgm:pt>
    <dgm:pt modelId="{C3CF1DC4-F66D-4200-8364-2D73BCFB8EE9}">
      <dgm:prSet/>
      <dgm:spPr/>
      <dgm:t>
        <a:bodyPr/>
        <a:lstStyle/>
        <a:p>
          <a:r>
            <a:rPr lang="ru-RU"/>
            <a:t>әдістемелік орталықтар (кабинеттер) жанында мобильді топтардың қызметін жетілдіру; </a:t>
          </a:r>
          <a:endParaRPr lang="en-US"/>
        </a:p>
      </dgm:t>
    </dgm:pt>
    <dgm:pt modelId="{1D615BC7-A561-4BAA-9736-96A237B4E1FA}" type="parTrans" cxnId="{40831648-8935-4FB6-B989-297AA937F7BA}">
      <dgm:prSet/>
      <dgm:spPr/>
      <dgm:t>
        <a:bodyPr/>
        <a:lstStyle/>
        <a:p>
          <a:endParaRPr lang="en-US"/>
        </a:p>
      </dgm:t>
    </dgm:pt>
    <dgm:pt modelId="{67766478-1CA7-41BF-AF58-63586ADD8C26}" type="sibTrans" cxnId="{40831648-8935-4FB6-B989-297AA937F7BA}">
      <dgm:prSet/>
      <dgm:spPr/>
      <dgm:t>
        <a:bodyPr/>
        <a:lstStyle/>
        <a:p>
          <a:endParaRPr lang="en-US"/>
        </a:p>
      </dgm:t>
    </dgm:pt>
    <dgm:pt modelId="{C73ED996-3F68-4C13-9600-D6C85E7CEF14}">
      <dgm:prSet/>
      <dgm:spPr/>
      <dgm:t>
        <a:bodyPr/>
        <a:lstStyle/>
        <a:p>
          <a:r>
            <a:rPr lang="ru-RU"/>
            <a:t>«Балақайлар мектебі» бағдарламасы бойынша жазғы кезеңде мектепалды даярлықты ұйымдастыру. </a:t>
          </a:r>
          <a:endParaRPr lang="en-US"/>
        </a:p>
      </dgm:t>
    </dgm:pt>
    <dgm:pt modelId="{2BE7F49C-880A-481C-A13D-69FACA9C51CF}" type="parTrans" cxnId="{CFA7FAD6-5B43-4CD0-8A0B-46B92C271CCD}">
      <dgm:prSet/>
      <dgm:spPr/>
      <dgm:t>
        <a:bodyPr/>
        <a:lstStyle/>
        <a:p>
          <a:endParaRPr lang="en-US"/>
        </a:p>
      </dgm:t>
    </dgm:pt>
    <dgm:pt modelId="{D5BE4541-A068-459B-B378-156CC11C3051}" type="sibTrans" cxnId="{CFA7FAD6-5B43-4CD0-8A0B-46B92C271CCD}">
      <dgm:prSet/>
      <dgm:spPr/>
      <dgm:t>
        <a:bodyPr/>
        <a:lstStyle/>
        <a:p>
          <a:endParaRPr lang="en-US"/>
        </a:p>
      </dgm:t>
    </dgm:pt>
    <dgm:pt modelId="{14BCA986-3429-4F82-B416-A6030CC5C401}" type="pres">
      <dgm:prSet presAssocID="{F94DBCFD-1FBA-4005-A1C9-C8890CFDE2D4}" presName="diagram" presStyleCnt="0">
        <dgm:presLayoutVars>
          <dgm:dir/>
          <dgm:resizeHandles val="exact"/>
        </dgm:presLayoutVars>
      </dgm:prSet>
      <dgm:spPr/>
    </dgm:pt>
    <dgm:pt modelId="{4C704F9E-1E48-48D7-8628-B59402C7DD2D}" type="pres">
      <dgm:prSet presAssocID="{31B5861C-BCF7-4BA0-846F-D70AD030131D}" presName="node" presStyleLbl="node1" presStyleIdx="0" presStyleCnt="8">
        <dgm:presLayoutVars>
          <dgm:bulletEnabled val="1"/>
        </dgm:presLayoutVars>
      </dgm:prSet>
      <dgm:spPr/>
    </dgm:pt>
    <dgm:pt modelId="{AB57FC38-EB4E-44BD-9AF3-205426337965}" type="pres">
      <dgm:prSet presAssocID="{8BD6A796-1C6C-4CA0-9BD6-9B2517859606}" presName="sibTrans" presStyleCnt="0"/>
      <dgm:spPr/>
    </dgm:pt>
    <dgm:pt modelId="{F2868EEC-052E-4DD8-8964-2974DF43E65B}" type="pres">
      <dgm:prSet presAssocID="{D10CEC3D-249E-47EF-B29A-B71714DC2C89}" presName="node" presStyleLbl="node1" presStyleIdx="1" presStyleCnt="8">
        <dgm:presLayoutVars>
          <dgm:bulletEnabled val="1"/>
        </dgm:presLayoutVars>
      </dgm:prSet>
      <dgm:spPr/>
    </dgm:pt>
    <dgm:pt modelId="{EDE66449-4801-437E-8121-A6A627553A38}" type="pres">
      <dgm:prSet presAssocID="{59851393-5E31-41DD-9457-8E0CB5755C41}" presName="sibTrans" presStyleCnt="0"/>
      <dgm:spPr/>
    </dgm:pt>
    <dgm:pt modelId="{EFEFA2D8-C3EC-462D-8E09-17C4DD34D7F5}" type="pres">
      <dgm:prSet presAssocID="{563B8211-988D-44B9-B4F2-20974F821A5E}" presName="node" presStyleLbl="node1" presStyleIdx="2" presStyleCnt="8">
        <dgm:presLayoutVars>
          <dgm:bulletEnabled val="1"/>
        </dgm:presLayoutVars>
      </dgm:prSet>
      <dgm:spPr/>
    </dgm:pt>
    <dgm:pt modelId="{AD773520-8ABA-4069-ACEA-541C26E38396}" type="pres">
      <dgm:prSet presAssocID="{48D13015-2223-4065-B5E3-7CAD6143A886}" presName="sibTrans" presStyleCnt="0"/>
      <dgm:spPr/>
    </dgm:pt>
    <dgm:pt modelId="{D7A0BCA7-CD6C-4FA3-9873-C07752AF8AA1}" type="pres">
      <dgm:prSet presAssocID="{37EB7A3B-40EB-4533-9A1E-5901D26FDC8B}" presName="node" presStyleLbl="node1" presStyleIdx="3" presStyleCnt="8">
        <dgm:presLayoutVars>
          <dgm:bulletEnabled val="1"/>
        </dgm:presLayoutVars>
      </dgm:prSet>
      <dgm:spPr/>
    </dgm:pt>
    <dgm:pt modelId="{162B5FDF-79A6-49F4-B10C-9180D05E180E}" type="pres">
      <dgm:prSet presAssocID="{3441F145-C1AA-4533-83C8-C1F8325DE999}" presName="sibTrans" presStyleCnt="0"/>
      <dgm:spPr/>
    </dgm:pt>
    <dgm:pt modelId="{4A565AB9-FF41-479B-A5AF-9F2E58D9DFA9}" type="pres">
      <dgm:prSet presAssocID="{1F3D4484-ACCA-40E4-8187-299626C2E681}" presName="node" presStyleLbl="node1" presStyleIdx="4" presStyleCnt="8">
        <dgm:presLayoutVars>
          <dgm:bulletEnabled val="1"/>
        </dgm:presLayoutVars>
      </dgm:prSet>
      <dgm:spPr/>
    </dgm:pt>
    <dgm:pt modelId="{B3EAAC58-0606-4410-B5DA-FEADF0B8D029}" type="pres">
      <dgm:prSet presAssocID="{7E7DD050-BE8D-4D88-A91B-FBE7EA02B65B}" presName="sibTrans" presStyleCnt="0"/>
      <dgm:spPr/>
    </dgm:pt>
    <dgm:pt modelId="{7906169D-820E-4C5D-8DDE-21EAD471435E}" type="pres">
      <dgm:prSet presAssocID="{D8B2CE29-CBE4-47CD-A777-3FBB9D992F64}" presName="node" presStyleLbl="node1" presStyleIdx="5" presStyleCnt="8">
        <dgm:presLayoutVars>
          <dgm:bulletEnabled val="1"/>
        </dgm:presLayoutVars>
      </dgm:prSet>
      <dgm:spPr/>
    </dgm:pt>
    <dgm:pt modelId="{61BBF3D1-C7EF-4308-A682-A0DD9CE5E0CA}" type="pres">
      <dgm:prSet presAssocID="{34DCF197-5399-4BDD-A3DC-E79216CA4B4F}" presName="sibTrans" presStyleCnt="0"/>
      <dgm:spPr/>
    </dgm:pt>
    <dgm:pt modelId="{21A4230F-B9FB-4BCA-88FB-2D776AC8E822}" type="pres">
      <dgm:prSet presAssocID="{C3CF1DC4-F66D-4200-8364-2D73BCFB8EE9}" presName="node" presStyleLbl="node1" presStyleIdx="6" presStyleCnt="8">
        <dgm:presLayoutVars>
          <dgm:bulletEnabled val="1"/>
        </dgm:presLayoutVars>
      </dgm:prSet>
      <dgm:spPr/>
    </dgm:pt>
    <dgm:pt modelId="{E0BD1325-C8C6-47B8-AE6B-656F1D53EA99}" type="pres">
      <dgm:prSet presAssocID="{67766478-1CA7-41BF-AF58-63586ADD8C26}" presName="sibTrans" presStyleCnt="0"/>
      <dgm:spPr/>
    </dgm:pt>
    <dgm:pt modelId="{5BCC8F95-4D38-4689-BC6D-4AC4C78B16FF}" type="pres">
      <dgm:prSet presAssocID="{C73ED996-3F68-4C13-9600-D6C85E7CEF14}" presName="node" presStyleLbl="node1" presStyleIdx="7" presStyleCnt="8">
        <dgm:presLayoutVars>
          <dgm:bulletEnabled val="1"/>
        </dgm:presLayoutVars>
      </dgm:prSet>
      <dgm:spPr/>
    </dgm:pt>
  </dgm:ptLst>
  <dgm:cxnLst>
    <dgm:cxn modelId="{FF6AD606-BD2C-4613-A688-CF544B12318F}" type="presOf" srcId="{C73ED996-3F68-4C13-9600-D6C85E7CEF14}" destId="{5BCC8F95-4D38-4689-BC6D-4AC4C78B16FF}" srcOrd="0" destOrd="0" presId="urn:microsoft.com/office/officeart/2005/8/layout/default"/>
    <dgm:cxn modelId="{8C14150A-14AF-45E4-97D6-64628CA5DE25}" type="presOf" srcId="{37EB7A3B-40EB-4533-9A1E-5901D26FDC8B}" destId="{D7A0BCA7-CD6C-4FA3-9873-C07752AF8AA1}" srcOrd="0" destOrd="0" presId="urn:microsoft.com/office/officeart/2005/8/layout/default"/>
    <dgm:cxn modelId="{CF92F41A-961C-4ABA-9288-DE1D21189E2A}" type="presOf" srcId="{F94DBCFD-1FBA-4005-A1C9-C8890CFDE2D4}" destId="{14BCA986-3429-4F82-B416-A6030CC5C401}" srcOrd="0" destOrd="0" presId="urn:microsoft.com/office/officeart/2005/8/layout/default"/>
    <dgm:cxn modelId="{419E4424-0992-47D1-8466-0D3EBC2F8F35}" srcId="{F94DBCFD-1FBA-4005-A1C9-C8890CFDE2D4}" destId="{37EB7A3B-40EB-4533-9A1E-5901D26FDC8B}" srcOrd="3" destOrd="0" parTransId="{886A575D-823E-4FBA-8DC1-DEF20CA1E18C}" sibTransId="{3441F145-C1AA-4533-83C8-C1F8325DE999}"/>
    <dgm:cxn modelId="{0D50132C-63ED-42CE-B33E-5423A98D4B0D}" srcId="{F94DBCFD-1FBA-4005-A1C9-C8890CFDE2D4}" destId="{31B5861C-BCF7-4BA0-846F-D70AD030131D}" srcOrd="0" destOrd="0" parTransId="{BC61CF83-437E-4878-B7D1-577AE21C8637}" sibTransId="{8BD6A796-1C6C-4CA0-9BD6-9B2517859606}"/>
    <dgm:cxn modelId="{D514ED5C-1068-43CA-A22F-62B90388504D}" type="presOf" srcId="{563B8211-988D-44B9-B4F2-20974F821A5E}" destId="{EFEFA2D8-C3EC-462D-8E09-17C4DD34D7F5}" srcOrd="0" destOrd="0" presId="urn:microsoft.com/office/officeart/2005/8/layout/default"/>
    <dgm:cxn modelId="{5A67C246-B0B1-4082-A8F4-3601A6727981}" type="presOf" srcId="{1F3D4484-ACCA-40E4-8187-299626C2E681}" destId="{4A565AB9-FF41-479B-A5AF-9F2E58D9DFA9}" srcOrd="0" destOrd="0" presId="urn:microsoft.com/office/officeart/2005/8/layout/default"/>
    <dgm:cxn modelId="{5DC1B567-E88F-47A0-96AE-A204464C9264}" type="presOf" srcId="{D10CEC3D-249E-47EF-B29A-B71714DC2C89}" destId="{F2868EEC-052E-4DD8-8964-2974DF43E65B}" srcOrd="0" destOrd="0" presId="urn:microsoft.com/office/officeart/2005/8/layout/default"/>
    <dgm:cxn modelId="{40831648-8935-4FB6-B989-297AA937F7BA}" srcId="{F94DBCFD-1FBA-4005-A1C9-C8890CFDE2D4}" destId="{C3CF1DC4-F66D-4200-8364-2D73BCFB8EE9}" srcOrd="6" destOrd="0" parTransId="{1D615BC7-A561-4BAA-9736-96A237B4E1FA}" sibTransId="{67766478-1CA7-41BF-AF58-63586ADD8C26}"/>
    <dgm:cxn modelId="{D2E1444A-DC7C-450D-99CF-767CD5796927}" srcId="{F94DBCFD-1FBA-4005-A1C9-C8890CFDE2D4}" destId="{D8B2CE29-CBE4-47CD-A777-3FBB9D992F64}" srcOrd="5" destOrd="0" parTransId="{AF80709D-0F08-44AC-B4B1-21C495FF86F5}" sibTransId="{34DCF197-5399-4BDD-A3DC-E79216CA4B4F}"/>
    <dgm:cxn modelId="{FC92E258-AA80-45FF-88BB-053BD91B0620}" srcId="{F94DBCFD-1FBA-4005-A1C9-C8890CFDE2D4}" destId="{D10CEC3D-249E-47EF-B29A-B71714DC2C89}" srcOrd="1" destOrd="0" parTransId="{96999448-BA76-48E8-B544-2FE1F911CEB3}" sibTransId="{59851393-5E31-41DD-9457-8E0CB5755C41}"/>
    <dgm:cxn modelId="{D49E3F97-F715-4311-B34B-2B5CF9E05A09}" type="presOf" srcId="{D8B2CE29-CBE4-47CD-A777-3FBB9D992F64}" destId="{7906169D-820E-4C5D-8DDE-21EAD471435E}" srcOrd="0" destOrd="0" presId="urn:microsoft.com/office/officeart/2005/8/layout/default"/>
    <dgm:cxn modelId="{2B0D3DD0-A690-457E-8FCD-7D5D77D87208}" srcId="{F94DBCFD-1FBA-4005-A1C9-C8890CFDE2D4}" destId="{563B8211-988D-44B9-B4F2-20974F821A5E}" srcOrd="2" destOrd="0" parTransId="{BDF0BB30-85ED-4C22-9574-D183789667CD}" sibTransId="{48D13015-2223-4065-B5E3-7CAD6143A886}"/>
    <dgm:cxn modelId="{CFA7FAD6-5B43-4CD0-8A0B-46B92C271CCD}" srcId="{F94DBCFD-1FBA-4005-A1C9-C8890CFDE2D4}" destId="{C73ED996-3F68-4C13-9600-D6C85E7CEF14}" srcOrd="7" destOrd="0" parTransId="{2BE7F49C-880A-481C-A13D-69FACA9C51CF}" sibTransId="{D5BE4541-A068-459B-B378-156CC11C3051}"/>
    <dgm:cxn modelId="{74C97CE0-19F2-4F33-BA3A-188C7F3E89A2}" type="presOf" srcId="{C3CF1DC4-F66D-4200-8364-2D73BCFB8EE9}" destId="{21A4230F-B9FB-4BCA-88FB-2D776AC8E822}" srcOrd="0" destOrd="0" presId="urn:microsoft.com/office/officeart/2005/8/layout/default"/>
    <dgm:cxn modelId="{BC72BAE9-8CC8-4AC2-9412-D1663E5B104A}" type="presOf" srcId="{31B5861C-BCF7-4BA0-846F-D70AD030131D}" destId="{4C704F9E-1E48-48D7-8628-B59402C7DD2D}" srcOrd="0" destOrd="0" presId="urn:microsoft.com/office/officeart/2005/8/layout/default"/>
    <dgm:cxn modelId="{6E2D34F5-1320-4ABA-83F0-AA9991BACD80}" srcId="{F94DBCFD-1FBA-4005-A1C9-C8890CFDE2D4}" destId="{1F3D4484-ACCA-40E4-8187-299626C2E681}" srcOrd="4" destOrd="0" parTransId="{0FF4E137-C246-4E66-B523-9AC408FFCAC9}" sibTransId="{7E7DD050-BE8D-4D88-A91B-FBE7EA02B65B}"/>
    <dgm:cxn modelId="{07C0BB46-79DE-4F31-9F4D-87A1B5C7AA7B}" type="presParOf" srcId="{14BCA986-3429-4F82-B416-A6030CC5C401}" destId="{4C704F9E-1E48-48D7-8628-B59402C7DD2D}" srcOrd="0" destOrd="0" presId="urn:microsoft.com/office/officeart/2005/8/layout/default"/>
    <dgm:cxn modelId="{6E2DCBA4-F0B9-4BAA-A00C-BE88C5E4D09A}" type="presParOf" srcId="{14BCA986-3429-4F82-B416-A6030CC5C401}" destId="{AB57FC38-EB4E-44BD-9AF3-205426337965}" srcOrd="1" destOrd="0" presId="urn:microsoft.com/office/officeart/2005/8/layout/default"/>
    <dgm:cxn modelId="{EBC9CF99-4361-4CCC-A95B-636F8AE5E927}" type="presParOf" srcId="{14BCA986-3429-4F82-B416-A6030CC5C401}" destId="{F2868EEC-052E-4DD8-8964-2974DF43E65B}" srcOrd="2" destOrd="0" presId="urn:microsoft.com/office/officeart/2005/8/layout/default"/>
    <dgm:cxn modelId="{6CD75ADD-AA2D-43FE-9B01-90791C912B23}" type="presParOf" srcId="{14BCA986-3429-4F82-B416-A6030CC5C401}" destId="{EDE66449-4801-437E-8121-A6A627553A38}" srcOrd="3" destOrd="0" presId="urn:microsoft.com/office/officeart/2005/8/layout/default"/>
    <dgm:cxn modelId="{CBB91515-D493-4389-8447-200725A37435}" type="presParOf" srcId="{14BCA986-3429-4F82-B416-A6030CC5C401}" destId="{EFEFA2D8-C3EC-462D-8E09-17C4DD34D7F5}" srcOrd="4" destOrd="0" presId="urn:microsoft.com/office/officeart/2005/8/layout/default"/>
    <dgm:cxn modelId="{1E303569-F0D5-4D6E-B5B8-0B400C6B2128}" type="presParOf" srcId="{14BCA986-3429-4F82-B416-A6030CC5C401}" destId="{AD773520-8ABA-4069-ACEA-541C26E38396}" srcOrd="5" destOrd="0" presId="urn:microsoft.com/office/officeart/2005/8/layout/default"/>
    <dgm:cxn modelId="{439C266B-EC95-409E-900F-6A3F81F2A11F}" type="presParOf" srcId="{14BCA986-3429-4F82-B416-A6030CC5C401}" destId="{D7A0BCA7-CD6C-4FA3-9873-C07752AF8AA1}" srcOrd="6" destOrd="0" presId="urn:microsoft.com/office/officeart/2005/8/layout/default"/>
    <dgm:cxn modelId="{BEBE5210-9BBE-422C-89B5-84610D604B6E}" type="presParOf" srcId="{14BCA986-3429-4F82-B416-A6030CC5C401}" destId="{162B5FDF-79A6-49F4-B10C-9180D05E180E}" srcOrd="7" destOrd="0" presId="urn:microsoft.com/office/officeart/2005/8/layout/default"/>
    <dgm:cxn modelId="{D19BE3DB-501F-4F42-97E6-10866CE66C5B}" type="presParOf" srcId="{14BCA986-3429-4F82-B416-A6030CC5C401}" destId="{4A565AB9-FF41-479B-A5AF-9F2E58D9DFA9}" srcOrd="8" destOrd="0" presId="urn:microsoft.com/office/officeart/2005/8/layout/default"/>
    <dgm:cxn modelId="{2D81E626-CEA5-4D6C-BC78-4CF8F70FDAC1}" type="presParOf" srcId="{14BCA986-3429-4F82-B416-A6030CC5C401}" destId="{B3EAAC58-0606-4410-B5DA-FEADF0B8D029}" srcOrd="9" destOrd="0" presId="urn:microsoft.com/office/officeart/2005/8/layout/default"/>
    <dgm:cxn modelId="{1BCE7996-D9AC-4091-8002-CCD4F547BC58}" type="presParOf" srcId="{14BCA986-3429-4F82-B416-A6030CC5C401}" destId="{7906169D-820E-4C5D-8DDE-21EAD471435E}" srcOrd="10" destOrd="0" presId="urn:microsoft.com/office/officeart/2005/8/layout/default"/>
    <dgm:cxn modelId="{604F7E9B-7FC6-4A2A-8661-91F100161913}" type="presParOf" srcId="{14BCA986-3429-4F82-B416-A6030CC5C401}" destId="{61BBF3D1-C7EF-4308-A682-A0DD9CE5E0CA}" srcOrd="11" destOrd="0" presId="urn:microsoft.com/office/officeart/2005/8/layout/default"/>
    <dgm:cxn modelId="{D67FED65-58A6-4539-A3CA-10D53DF8A78B}" type="presParOf" srcId="{14BCA986-3429-4F82-B416-A6030CC5C401}" destId="{21A4230F-B9FB-4BCA-88FB-2D776AC8E822}" srcOrd="12" destOrd="0" presId="urn:microsoft.com/office/officeart/2005/8/layout/default"/>
    <dgm:cxn modelId="{9D8607B9-CCDB-49E0-9A12-2E139CDD5A7B}" type="presParOf" srcId="{14BCA986-3429-4F82-B416-A6030CC5C401}" destId="{E0BD1325-C8C6-47B8-AE6B-656F1D53EA99}" srcOrd="13" destOrd="0" presId="urn:microsoft.com/office/officeart/2005/8/layout/default"/>
    <dgm:cxn modelId="{FDDF29F2-F376-4953-8090-F35E341E4406}" type="presParOf" srcId="{14BCA986-3429-4F82-B416-A6030CC5C401}" destId="{5BCC8F95-4D38-4689-BC6D-4AC4C78B16FF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04F9E-1E48-48D7-8628-B59402C7DD2D}">
      <dsp:nvSpPr>
        <dsp:cNvPr id="0" name=""/>
        <dsp:cNvSpPr/>
      </dsp:nvSpPr>
      <dsp:spPr>
        <a:xfrm>
          <a:off x="2480" y="565724"/>
          <a:ext cx="1968045" cy="1180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1100" kern="1200" dirty="0"/>
            <a:t>МДҰ мен мектепалды сыныптарда балалардың қауіпсіз болуын қамтамасыз ету; </a:t>
          </a:r>
          <a:endParaRPr lang="en-US" sz="1100" kern="1200" dirty="0"/>
        </a:p>
      </dsp:txBody>
      <dsp:txXfrm>
        <a:off x="2480" y="565724"/>
        <a:ext cx="1968045" cy="1180827"/>
      </dsp:txXfrm>
    </dsp:sp>
    <dsp:sp modelId="{F2868EEC-052E-4DD8-8964-2974DF43E65B}">
      <dsp:nvSpPr>
        <dsp:cNvPr id="0" name=""/>
        <dsp:cNvSpPr/>
      </dsp:nvSpPr>
      <dsp:spPr>
        <a:xfrm>
          <a:off x="2167331" y="565724"/>
          <a:ext cx="1968045" cy="1180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оқыту басқа тілде жүргізілетін мектепке дейінгі ұйымдарда «Тілге бойлау» бағдарламасын жаппай іске асыру; </a:t>
          </a:r>
          <a:endParaRPr lang="en-US" sz="1100" kern="1200"/>
        </a:p>
      </dsp:txBody>
      <dsp:txXfrm>
        <a:off x="2167331" y="565724"/>
        <a:ext cx="1968045" cy="1180827"/>
      </dsp:txXfrm>
    </dsp:sp>
    <dsp:sp modelId="{EFEFA2D8-C3EC-462D-8E09-17C4DD34D7F5}">
      <dsp:nvSpPr>
        <dsp:cNvPr id="0" name=""/>
        <dsp:cNvSpPr/>
      </dsp:nvSpPr>
      <dsp:spPr>
        <a:xfrm>
          <a:off x="4332181" y="565724"/>
          <a:ext cx="1968045" cy="1180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«Жасыл балабақша» желісін кеңейту - экологиялық білім беру және экологиялық мәдениетті қалыптастыру; </a:t>
          </a:r>
          <a:endParaRPr lang="en-US" sz="1100" kern="1200"/>
        </a:p>
      </dsp:txBody>
      <dsp:txXfrm>
        <a:off x="4332181" y="565724"/>
        <a:ext cx="1968045" cy="1180827"/>
      </dsp:txXfrm>
    </dsp:sp>
    <dsp:sp modelId="{D7A0BCA7-CD6C-4FA3-9873-C07752AF8AA1}">
      <dsp:nvSpPr>
        <dsp:cNvPr id="0" name=""/>
        <dsp:cNvSpPr/>
      </dsp:nvSpPr>
      <dsp:spPr>
        <a:xfrm>
          <a:off x="6497031" y="565724"/>
          <a:ext cx="1968045" cy="1180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k-KZ" sz="1100" kern="1200"/>
            <a:t>Ата-аналарға арналған консультациялық пункттердің жұмысын жетілдіру. </a:t>
          </a:r>
          <a:r>
            <a:rPr lang="ru-RU" sz="1100" kern="1200"/>
            <a:t>Мобильді консультациялық пункттер бойынша «Тәрбие бесігі» жобасын іске асыру; </a:t>
          </a:r>
          <a:endParaRPr lang="en-US" sz="1100" kern="1200"/>
        </a:p>
      </dsp:txBody>
      <dsp:txXfrm>
        <a:off x="6497031" y="565724"/>
        <a:ext cx="1968045" cy="1180827"/>
      </dsp:txXfrm>
    </dsp:sp>
    <dsp:sp modelId="{4A565AB9-FF41-479B-A5AF-9F2E58D9DFA9}">
      <dsp:nvSpPr>
        <dsp:cNvPr id="0" name=""/>
        <dsp:cNvSpPr/>
      </dsp:nvSpPr>
      <dsp:spPr>
        <a:xfrm>
          <a:off x="2480" y="1943356"/>
          <a:ext cx="1968045" cy="1180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«Беске дейін үлгер» ата-аналарға арналған мобильді қосымшасын қолдану арқылы балаларды тәрбиелеу мен дамыту мәселелері бойынша ата-аналарды ағарту; </a:t>
          </a:r>
          <a:endParaRPr lang="en-US" sz="1100" kern="1200"/>
        </a:p>
      </dsp:txBody>
      <dsp:txXfrm>
        <a:off x="2480" y="1943356"/>
        <a:ext cx="1968045" cy="1180827"/>
      </dsp:txXfrm>
    </dsp:sp>
    <dsp:sp modelId="{7906169D-820E-4C5D-8DDE-21EAD471435E}">
      <dsp:nvSpPr>
        <dsp:cNvPr id="0" name=""/>
        <dsp:cNvSpPr/>
      </dsp:nvSpPr>
      <dsp:spPr>
        <a:xfrm>
          <a:off x="2167331" y="1943356"/>
          <a:ext cx="1968045" cy="1180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ауылдық жерлерде «Құзыреттілік орталықтары» желісін кеңейту және «Құзыреттілік орталықтары» - жеке мектепке дейінгі ұйымдар санын ұлғайту; </a:t>
          </a:r>
          <a:endParaRPr lang="en-US" sz="1100" kern="1200"/>
        </a:p>
      </dsp:txBody>
      <dsp:txXfrm>
        <a:off x="2167331" y="1943356"/>
        <a:ext cx="1968045" cy="1180827"/>
      </dsp:txXfrm>
    </dsp:sp>
    <dsp:sp modelId="{21A4230F-B9FB-4BCA-88FB-2D776AC8E822}">
      <dsp:nvSpPr>
        <dsp:cNvPr id="0" name=""/>
        <dsp:cNvSpPr/>
      </dsp:nvSpPr>
      <dsp:spPr>
        <a:xfrm>
          <a:off x="4332181" y="1943356"/>
          <a:ext cx="1968045" cy="1180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әдістемелік орталықтар (кабинеттер) жанында мобильді топтардың қызметін жетілдіру; </a:t>
          </a:r>
          <a:endParaRPr lang="en-US" sz="1100" kern="1200"/>
        </a:p>
      </dsp:txBody>
      <dsp:txXfrm>
        <a:off x="4332181" y="1943356"/>
        <a:ext cx="1968045" cy="1180827"/>
      </dsp:txXfrm>
    </dsp:sp>
    <dsp:sp modelId="{5BCC8F95-4D38-4689-BC6D-4AC4C78B16FF}">
      <dsp:nvSpPr>
        <dsp:cNvPr id="0" name=""/>
        <dsp:cNvSpPr/>
      </dsp:nvSpPr>
      <dsp:spPr>
        <a:xfrm>
          <a:off x="6497031" y="1943356"/>
          <a:ext cx="1968045" cy="11808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«Балақайлар мектебі» бағдарламасы бойынша жазғы кезеңде мектепалды даярлықты ұйымдастыру. </a:t>
          </a:r>
          <a:endParaRPr lang="en-US" sz="1100" kern="1200"/>
        </a:p>
      </dsp:txBody>
      <dsp:txXfrm>
        <a:off x="6497031" y="1943356"/>
        <a:ext cx="1968045" cy="1180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6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2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15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13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0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5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9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73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3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0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08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44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60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99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7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8/16/2025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39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8/16/2025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74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98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8/16/2025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512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85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8/16/2025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74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65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8/16/2025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11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8/16/2025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60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8/16/2025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323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380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8/16/2025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385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8/16/2025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215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8/16/2025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117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366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500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566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713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958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36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94514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35342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59579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879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33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41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246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05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334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870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260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497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34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51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2" r:id="rId2"/>
    <p:sldLayoutId id="2147483774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57" r:id="rId35"/>
    <p:sldLayoutId id="2147483758" r:id="rId36"/>
    <p:sldLayoutId id="2147483759" r:id="rId37"/>
    <p:sldLayoutId id="2147483760" r:id="rId38"/>
    <p:sldLayoutId id="2147483761" r:id="rId39"/>
    <p:sldLayoutId id="2147483762" r:id="rId40"/>
    <p:sldLayoutId id="2147483763" r:id="rId41"/>
    <p:sldLayoutId id="2147483764" r:id="rId42"/>
    <p:sldLayoutId id="2147483765" r:id="rId43"/>
    <p:sldLayoutId id="2147483766" r:id="rId44"/>
    <p:sldLayoutId id="2147483767" r:id="rId45"/>
    <p:sldLayoutId id="2147483768" r:id="rId46"/>
    <p:sldLayoutId id="2147483769" r:id="rId47"/>
    <p:sldLayoutId id="2147483770" r:id="rId48"/>
    <p:sldLayoutId id="2147483771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irrd.kz/sites/irrd.kz/uploads/docs/2025/04/d-k1410.pdf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2AD42D-EA7B-8C7E-C3E6-17C49FF68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ru-RU"/>
              <a:t>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0ADA13-2E82-CE2A-A10A-F65560802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ru-RU"/>
              <a:t>Добавьте краткое объяснение цели презентации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CAF055-FA8C-85BE-F68F-931F63ECE0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9542" b="19542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6109A5-D0FB-6504-EEF9-0A58F0E3434F}"/>
              </a:ext>
            </a:extLst>
          </p:cNvPr>
          <p:cNvSpPr txBox="1"/>
          <p:nvPr/>
        </p:nvSpPr>
        <p:spPr>
          <a:xfrm>
            <a:off x="1591628" y="1503730"/>
            <a:ext cx="596074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ru-RU" sz="1600" b="0" i="0" u="none" strike="noStrike" baseline="0" dirty="0">
              <a:latin typeface="Times New Roman" panose="02020603050405020304" pitchFamily="18" charset="0"/>
            </a:endParaRPr>
          </a:p>
          <a:p>
            <a:pPr algn="ctr"/>
            <a:r>
              <a:rPr lang="ru-RU" sz="16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ru-RU" sz="1800" b="0" i="0" u="none" strike="noStrike" baseline="0" dirty="0">
                <a:solidFill>
                  <a:srgbClr val="001F5F"/>
                </a:solidFill>
                <a:latin typeface="Times New Roman" panose="02020603050405020304" pitchFamily="18" charset="0"/>
              </a:rPr>
              <a:t>2025-2026 ОҚУ ЖЫЛЫНДА ҚАЗАҚСТАН РЕСПУБЛИКАСЫНЫҢ МЕКТЕПКЕ ДЕЙІНГІ ҰЙЫМДАРЫ МЕН МЕКТЕПТЕРДІҢ, ЛИЦЕЙЛЕР МЕН ГИМНАЗИЯЛАРДЫҢ МЕКТЕПАЛДЫ СЫНЫПТАРЫНДА ТӘРБИЕЛЕУ-БІЛІМ БЕРУ ПРОЦЕСІН ҰЙЫМДАСТЫРУ ТУРАЛЫ </a:t>
            </a:r>
          </a:p>
          <a:p>
            <a:pPr algn="ctr"/>
            <a:r>
              <a:rPr lang="ru-RU" sz="2400" b="1" i="0" u="none" strike="noStrike" baseline="0" dirty="0">
                <a:solidFill>
                  <a:srgbClr val="001F5F"/>
                </a:solidFill>
                <a:latin typeface="Times New Roman" panose="02020603050405020304" pitchFamily="18" charset="0"/>
              </a:rPr>
              <a:t>ӘДІСТЕМЕЛІК НҰСҚАУ ХАТ 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0AFE36-8DE4-A3F6-2D88-97F349D3A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174" y="4280491"/>
            <a:ext cx="2163651" cy="217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9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C5A1E-FFC3-64CA-8AF2-4B8B4ABF2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/>
          <a:p>
            <a:pPr algn="ctr"/>
            <a:r>
              <a:rPr lang="ru-RU" sz="3400" dirty="0">
                <a:solidFill>
                  <a:srgbClr val="169C9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2025-2026 ОҚУ ЖЫЛЫНЫҢ НЕГІЗГІ ЕРЕКШЕЛІКТЕРІ</a:t>
            </a:r>
            <a:br>
              <a:rPr lang="ru-RU" sz="3400" dirty="0">
                <a:solidFill>
                  <a:srgbClr val="169C9A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ru-RU" sz="3400" dirty="0">
              <a:solidFill>
                <a:srgbClr val="169C9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Объект 2">
            <a:extLst>
              <a:ext uri="{FF2B5EF4-FFF2-40B4-BE49-F238E27FC236}">
                <a16:creationId xmlns:a16="http://schemas.microsoft.com/office/drawing/2014/main" id="{A246FE03-7BCD-5C18-B4AA-8FE63D8D0EA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05249228"/>
              </p:ext>
            </p:extLst>
          </p:nvPr>
        </p:nvGraphicFramePr>
        <p:xfrm>
          <a:off x="418337" y="1990960"/>
          <a:ext cx="8467558" cy="3689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29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D928A-A27A-2231-E44F-778A8E1B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k-KZ" u="sng" dirty="0">
                <a:hlinkClick r:id="rId2"/>
              </a:rPr>
              <a:t>http://irrd.kz/sites/irrd.kz/uploads/docs/2025/04/d-k1410.pdf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D60FA2-B8CB-7240-F2ED-C454D20978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442" y="2985370"/>
            <a:ext cx="8467558" cy="3689909"/>
          </a:xfrm>
        </p:spPr>
        <p:txBody>
          <a:bodyPr/>
          <a:lstStyle/>
          <a:p>
            <a:pPr marL="0" indent="0">
              <a:buNone/>
            </a:pPr>
            <a:r>
              <a:rPr lang="kk-KZ" i="1" dirty="0"/>
              <a:t>Мектепке дейінгі және бастауыш білім берудің сабақтастығын қамтамасыз ету үшін Мектепке дейінгі ұйымның орта білім беру ұйымымен өзара іс-қимылы бойынша ұсынымдарды басшылыққа алу </a:t>
            </a:r>
            <a:r>
              <a:rPr lang="kk-KZ" dirty="0"/>
              <a:t>қажет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266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40254-C1A2-0B52-1AA8-588E8CC1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kk-KZ" i="1" dirty="0">
                <a:solidFill>
                  <a:srgbClr val="169C9A"/>
                </a:solidFill>
              </a:rPr>
              <a:t>Ата-аналарға арналған консультациялық пункттердің жұмысын жетілдіру. </a:t>
            </a:r>
            <a:endParaRPr lang="ru-RU" dirty="0">
              <a:solidFill>
                <a:srgbClr val="169C9A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B9628-ED73-FF5F-A381-AC3454D3C8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i="1" dirty="0" err="1"/>
              <a:t>Мобильді</a:t>
            </a:r>
            <a:r>
              <a:rPr lang="ru-RU" b="1" i="1" dirty="0"/>
              <a:t> </a:t>
            </a:r>
            <a:r>
              <a:rPr lang="ru-RU" b="1" i="1" dirty="0" err="1"/>
              <a:t>консультациялық</a:t>
            </a:r>
            <a:r>
              <a:rPr lang="ru-RU" b="1" i="1" dirty="0"/>
              <a:t> </a:t>
            </a:r>
            <a:r>
              <a:rPr lang="ru-RU" b="1" i="1" dirty="0" err="1"/>
              <a:t>пункттерде</a:t>
            </a:r>
            <a:r>
              <a:rPr lang="ru-RU" b="1" i="1" dirty="0"/>
              <a:t> «</a:t>
            </a:r>
            <a:r>
              <a:rPr lang="ru-RU" b="1" i="1" dirty="0" err="1"/>
              <a:t>Тәрбие</a:t>
            </a:r>
            <a:r>
              <a:rPr lang="ru-RU" b="1" i="1" dirty="0"/>
              <a:t> </a:t>
            </a:r>
            <a:r>
              <a:rPr lang="ru-RU" b="1" i="1" dirty="0" err="1"/>
              <a:t>бесігі</a:t>
            </a:r>
            <a:r>
              <a:rPr lang="ru-RU" b="1" i="1" dirty="0"/>
              <a:t>» </a:t>
            </a:r>
            <a:r>
              <a:rPr lang="ru-RU" b="1" i="1" dirty="0" err="1"/>
              <a:t>жобасын</a:t>
            </a:r>
            <a:r>
              <a:rPr lang="ru-RU" b="1" i="1" dirty="0"/>
              <a:t> </a:t>
            </a:r>
            <a:r>
              <a:rPr lang="ru-RU" b="1" i="1" dirty="0" err="1"/>
              <a:t>іске</a:t>
            </a:r>
            <a:r>
              <a:rPr lang="ru-RU" b="1" i="1" dirty="0"/>
              <a:t> </a:t>
            </a:r>
            <a:r>
              <a:rPr lang="ru-RU" b="1" i="1" dirty="0" err="1"/>
              <a:t>асыру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752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46DF1CC6-A12A-A2DA-5ED5-22B71AF3D2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89580" y="274978"/>
            <a:ext cx="8582969" cy="633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13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число, чек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6E213F-28B1-A1E9-721A-F5546A16376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0"/>
            <a:ext cx="9052560" cy="6858000"/>
          </a:xfrm>
        </p:spPr>
      </p:pic>
    </p:spTree>
    <p:extLst>
      <p:ext uri="{BB962C8B-B14F-4D97-AF65-F5344CB8AC3E}">
        <p14:creationId xmlns:p14="http://schemas.microsoft.com/office/powerpoint/2010/main" val="3751874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7B9311-A6EC-5082-799E-DDC4DBB3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3001" y="-1142999"/>
            <a:ext cx="6858002" cy="9144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A6FF65-407B-ED2E-560F-B978DAED4EBC}"/>
              </a:ext>
            </a:extLst>
          </p:cNvPr>
          <p:cNvSpPr txBox="1"/>
          <p:nvPr/>
        </p:nvSpPr>
        <p:spPr>
          <a:xfrm>
            <a:off x="765810" y="1477298"/>
            <a:ext cx="761238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4400" b="1" i="0" u="none" strike="noStrike" baseline="0" dirty="0">
                <a:solidFill>
                  <a:srgbClr val="001F5F"/>
                </a:solidFill>
                <a:latin typeface="Times New Roman" panose="02020603050405020304" pitchFamily="18" charset="0"/>
              </a:rPr>
              <a:t>«АДАЛДЫҚ ӘЛІППЕСІ» </a:t>
            </a:r>
            <a:endParaRPr lang="ru-RU" sz="4400" b="0" i="0" u="none" strike="noStrike" baseline="0" dirty="0">
              <a:solidFill>
                <a:srgbClr val="001F5F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МЕКТЕП ЖАСЫНА ДЕЙІНГІ БАЛАЛАРДА ҚҰНДЫ ҚАСИЕТТЕР </a:t>
            </a:r>
            <a:endParaRPr lang="ru-RU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МЕН АДАЛДЫҚТЫ ҚАЛЫПТАСТЫРУҒА БАҒЫТТАЛҒАН </a:t>
            </a:r>
            <a:endParaRPr lang="ru-RU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ru-RU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ДИДАКТИКАЛЫҚ ОЙЫНДАР ЖИНАҒЫ 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69C24B-ADC2-C92B-0C9D-0047DCEAB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601" y="3323957"/>
            <a:ext cx="3219718" cy="324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41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FA7A6-54F4-5049-7347-3AAC3E60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Стандарт</a:t>
            </a:r>
            <a:r>
              <a:rPr lang="kk-KZ" dirty="0">
                <a:solidFill>
                  <a:srgbClr val="FF0000"/>
                </a:solidFill>
              </a:rPr>
              <a:t>, үлгілік оқу жоспары, үлгілік оқу бағдарламасы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письм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6B8A65-CCC4-FDFE-135A-2EF6A46398E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3"/>
          <a:stretch>
            <a:fillRect/>
          </a:stretch>
        </p:blipFill>
        <p:spPr>
          <a:xfrm>
            <a:off x="511572" y="2414066"/>
            <a:ext cx="1697831" cy="3471216"/>
          </a:xfrm>
        </p:spPr>
      </p:pic>
      <p:pic>
        <p:nvPicPr>
          <p:cNvPr id="7" name="Рисунок 6" descr="Изображение выглядит как текст, снимок экрана, документ, письм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906A86-06B0-FB07-2302-E41616C6A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4" t="45500" r="12682"/>
          <a:stretch>
            <a:fillRect/>
          </a:stretch>
        </p:blipFill>
        <p:spPr>
          <a:xfrm>
            <a:off x="2882067" y="2280869"/>
            <a:ext cx="2434589" cy="373761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AB80F0-E114-6A9B-6428-8838143216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3" b="8666"/>
          <a:stretch>
            <a:fillRect/>
          </a:stretch>
        </p:blipFill>
        <p:spPr>
          <a:xfrm>
            <a:off x="6175262" y="2414066"/>
            <a:ext cx="2157208" cy="400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8272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31</TotalTime>
  <Words>251</Words>
  <Application>Microsoft Office PowerPoint</Application>
  <PresentationFormat>Экран (4:3)</PresentationFormat>
  <Paragraphs>25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Cambria</vt:lpstr>
      <vt:lpstr>Neue Haas Grotesk Text Pro</vt:lpstr>
      <vt:lpstr>Times New Roman</vt:lpstr>
      <vt:lpstr>Helena</vt:lpstr>
      <vt:lpstr>Название презентации</vt:lpstr>
      <vt:lpstr>2025-2026 ОҚУ ЖЫЛЫНЫҢ НЕГІЗГІ ЕРЕКШЕЛІКТЕРІ </vt:lpstr>
      <vt:lpstr>http://irrd.kz/sites/irrd.kz/uploads/docs/2025/04/d-k1410.pdf</vt:lpstr>
      <vt:lpstr>Ата-аналарға арналған консультациялық пункттердің жұмысын жетілдіру. </vt:lpstr>
      <vt:lpstr>Презентация PowerPoint</vt:lpstr>
      <vt:lpstr>Презентация PowerPoint</vt:lpstr>
      <vt:lpstr>Презентация PowerPoint</vt:lpstr>
      <vt:lpstr>Стандарт, үлгілік оқу жоспары, үлгілік оқу бағдарламасы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ногайбекова бахытгуль</dc:creator>
  <cp:lastModifiedBy>ногайбекова бахытгуль</cp:lastModifiedBy>
  <cp:revision>3</cp:revision>
  <dcterms:created xsi:type="dcterms:W3CDTF">2025-08-16T07:45:30Z</dcterms:created>
  <dcterms:modified xsi:type="dcterms:W3CDTF">2025-08-16T08:19:19Z</dcterms:modified>
</cp:coreProperties>
</file>