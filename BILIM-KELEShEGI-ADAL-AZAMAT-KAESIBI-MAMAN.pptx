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9" r:id="rId4"/>
    <p:sldId id="266" r:id="rId5"/>
    <p:sldId id="260" r:id="rId6"/>
    <p:sldId id="267" r:id="rId7"/>
    <p:sldId id="261" r:id="rId8"/>
    <p:sldId id="268" r:id="rId9"/>
    <p:sldId id="262" r:id="rId10"/>
    <p:sldId id="263" r:id="rId11"/>
    <p:sldId id="264" r:id="rId12"/>
    <p:sldId id="265" r:id="rId13"/>
  </p:sldIdLst>
  <p:sldSz cx="10972800" cy="8229600"/>
  <p:notesSz cx="8229600" cy="14630400"/>
  <p:embeddedFontLst>
    <p:embeddedFont>
      <p:font typeface="Bricolage Grotesque Semi Bold" panose="020B0604020202020204" charset="0"/>
      <p:regular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1680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692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346836"/>
            <a:ext cx="932688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22446"/>
            <a:ext cx="8229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174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91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2051688"/>
            <a:ext cx="946404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5507358"/>
            <a:ext cx="946404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9191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190750"/>
            <a:ext cx="466344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190750"/>
            <a:ext cx="466344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5828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38152"/>
            <a:ext cx="9464040" cy="159067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2017396"/>
            <a:ext cx="46420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3006090"/>
            <a:ext cx="4642008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2017396"/>
            <a:ext cx="466486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3006090"/>
            <a:ext cx="4664869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2819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612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035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184912"/>
            <a:ext cx="555498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738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184912"/>
            <a:ext cx="555498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230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8100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438150"/>
            <a:ext cx="236601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438150"/>
            <a:ext cx="696087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0552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687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43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504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623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978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992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200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707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9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1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028700"/>
            <a:ext cx="4320540" cy="6172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1228" y="2179379"/>
            <a:ext cx="5667316" cy="106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163"/>
              </a:lnSpc>
            </a:pPr>
            <a:r>
              <a:rPr lang="en-US" sz="3338" dirty="0">
                <a:solidFill>
                  <a:srgbClr val="E7BF6A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БІЛІМ КЕЛЕШЕГІ:</a:t>
            </a:r>
            <a:r>
              <a:rPr lang="en-US" sz="3338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 АДАЛ АЗАМАТ - КӘСІБИ МАМАН</a:t>
            </a:r>
            <a:endParaRPr lang="en-US" sz="3338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0CDF85-3C9E-1877-CFFC-6C4DB9121DD9}"/>
              </a:ext>
            </a:extLst>
          </p:cNvPr>
          <p:cNvSpPr/>
          <p:nvPr/>
        </p:nvSpPr>
        <p:spPr>
          <a:xfrm>
            <a:off x="856982" y="3646526"/>
            <a:ext cx="4883646" cy="246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3"/>
              </a:lnSpc>
            </a:pPr>
            <a:r>
              <a:rPr lang="en-US" sz="27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Bricolage Grotesque Semi Bold" pitchFamily="34" charset="-120"/>
              </a:rPr>
              <a:t>Мектепке дейінгі білім </a:t>
            </a:r>
            <a:r>
              <a:rPr lang="en-US" sz="27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Bricolage Grotesque Semi Bold" pitchFamily="34" charset="-120"/>
              </a:rPr>
              <a:t>беру</a:t>
            </a:r>
            <a:r>
              <a:rPr lang="en-US" sz="27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Bricolage Grotesque Semi Bold" pitchFamily="34" charset="-120"/>
              </a:rPr>
              <a:t>:</a:t>
            </a:r>
            <a:endParaRPr lang="ru-RU" sz="27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Bricolage Grotesque Semi Bold" pitchFamily="34" charset="-120"/>
            </a:endParaRPr>
          </a:p>
          <a:p>
            <a:pPr algn="ctr">
              <a:lnSpc>
                <a:spcPts val="1913"/>
              </a:lnSpc>
            </a:pPr>
            <a:r>
              <a:rPr lang="en-US" sz="27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Bricolage Grotesque Semi Bold" pitchFamily="34" charset="-120"/>
              </a:rPr>
              <a:t> басымдықтан – сапаға</a:t>
            </a:r>
            <a:endParaRPr lang="en-US" sz="27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DDD1A6-483C-A890-FFB3-5A576938EF18}"/>
              </a:ext>
            </a:extLst>
          </p:cNvPr>
          <p:cNvSpPr/>
          <p:nvPr/>
        </p:nvSpPr>
        <p:spPr>
          <a:xfrm>
            <a:off x="1361420" y="4734789"/>
            <a:ext cx="9356438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238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Тамыз кеңесінде айтылған жаңалықтарға шолу.</a:t>
            </a:r>
            <a:endParaRPr lang="en-US" sz="12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892" y="1361778"/>
            <a:ext cx="8396675" cy="378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63"/>
              </a:lnSpc>
            </a:pPr>
            <a:r>
              <a:rPr lang="en-US" sz="2363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МЕКТЕПКЕ ДЕЙІНГІ БІЛІМ БЕРУ: БАСЫМДЫҚТАН – САПАҒА</a:t>
            </a:r>
            <a:endParaRPr lang="en-US" sz="2363" dirty="0"/>
          </a:p>
        </p:txBody>
      </p:sp>
      <p:sp>
        <p:nvSpPr>
          <p:cNvPr id="3" name="Text 1"/>
          <p:cNvSpPr/>
          <p:nvPr/>
        </p:nvSpPr>
        <p:spPr>
          <a:xfrm>
            <a:off x="423893" y="1982391"/>
            <a:ext cx="10125016" cy="38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dirty="0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Тамыз кеңесінде мектепке дейінгі білім беру жүйесін жаңа деңгейге көтеру мақсатында бірқатар маңызды </a:t>
            </a:r>
            <a:r>
              <a:rPr lang="en-US" dirty="0" err="1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жаңалықтар</a:t>
            </a:r>
            <a:r>
              <a:rPr lang="en-US" dirty="0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жарияланды</a:t>
            </a:r>
            <a:r>
              <a:rPr lang="en-US" dirty="0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 </a:t>
            </a:r>
            <a:endParaRPr lang="ru-RU" dirty="0">
              <a:solidFill>
                <a:srgbClr val="2C2926"/>
              </a:solidFill>
              <a:latin typeface="Cambria" panose="02040503050406030204" pitchFamily="18" charset="0"/>
              <a:ea typeface="Cambria" panose="02040503050406030204" pitchFamily="18" charset="0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endParaRPr lang="ru-RU" dirty="0">
              <a:solidFill>
                <a:srgbClr val="2C2926"/>
              </a:solidFill>
              <a:latin typeface="Cambria" panose="02040503050406030204" pitchFamily="18" charset="0"/>
              <a:ea typeface="Cambria" panose="02040503050406030204" pitchFamily="18" charset="0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endParaRPr lang="ru-RU" dirty="0">
              <a:solidFill>
                <a:srgbClr val="2C2926"/>
              </a:solidFill>
              <a:latin typeface="Cambria" panose="02040503050406030204" pitchFamily="18" charset="0"/>
              <a:ea typeface="Cambria" panose="02040503050406030204" pitchFamily="18" charset="0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r>
              <a:rPr lang="en-US" dirty="0" err="1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Енді</a:t>
            </a:r>
            <a:r>
              <a:rPr lang="en-US" dirty="0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 басты назар </a:t>
            </a:r>
            <a:r>
              <a:rPr lang="en-US" dirty="0">
                <a:solidFill>
                  <a:srgbClr val="E7BF6A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сапаға</a:t>
            </a:r>
            <a:r>
              <a:rPr lang="en-US" dirty="0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 және </a:t>
            </a:r>
            <a:r>
              <a:rPr lang="en-US" dirty="0">
                <a:solidFill>
                  <a:srgbClr val="E7BF6A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инновацияларға</a:t>
            </a:r>
            <a:r>
              <a:rPr lang="en-US" dirty="0">
                <a:solidFill>
                  <a:srgbClr val="2C2926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 pitchFamily="34" charset="-120"/>
              </a:rPr>
              <a:t> аударылады.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3900" y="4114800"/>
            <a:ext cx="1514029" cy="189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3"/>
              </a:lnSpc>
            </a:pPr>
            <a:r>
              <a:rPr lang="en-US" sz="15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Негізгі бағыттар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3893" y="4519806"/>
            <a:ext cx="4914811" cy="19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57175" indent="-257175">
              <a:lnSpc>
                <a:spcPts val="1500"/>
              </a:lnSpc>
              <a:buSzPct val="100000"/>
              <a:buChar char="•"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Оқу бағдарламаларын жаңарту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8177" y="4774034"/>
            <a:ext cx="4914811" cy="19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57175" indent="-257175">
              <a:lnSpc>
                <a:spcPts val="1500"/>
              </a:lnSpc>
              <a:buSzPct val="100000"/>
              <a:buChar char="•"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Педагог кадрлардың біліктілігін арттыру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8178" y="5088805"/>
            <a:ext cx="4914811" cy="19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57175" indent="-257175">
              <a:lnSpc>
                <a:spcPts val="1500"/>
              </a:lnSpc>
              <a:buSzPct val="100000"/>
              <a:buChar char="•"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Заманауи әдістемелерді енгізу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141732"/>
            <a:ext cx="4213830" cy="4213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43" y="1729055"/>
            <a:ext cx="9782116" cy="106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163"/>
              </a:lnSpc>
            </a:pPr>
            <a:r>
              <a:rPr lang="en-US" sz="3338" dirty="0">
                <a:solidFill>
                  <a:schemeClr val="accent1">
                    <a:lumMod val="50000"/>
                  </a:schemeClr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«ҰЛТТЫҚ САРАПШЫ» ЖОБАСЫ ЖӘНЕ ВАУЧЕРЛІК ҚАРЖЫЛАНДЫРУ</a:t>
            </a:r>
            <a:endParaRPr lang="en-US" sz="3338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95342" y="3200400"/>
            <a:ext cx="9571643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ҚР ОАМ Білім беру мазмұнын сараптау республикалық ғылыми-практикалық орталығының директоры </a:t>
            </a:r>
            <a:r>
              <a:rPr lang="en-US" sz="1313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«Ұлттық сарапшы»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жобасы туралы баяндама жасады. Бұл жоба білім беру мазмұнының сапасын арттыруға бағытталған.</a:t>
            </a:r>
            <a:endParaRPr lang="en-US" sz="1313" dirty="0"/>
          </a:p>
        </p:txBody>
      </p:sp>
      <p:sp>
        <p:nvSpPr>
          <p:cNvPr id="4" name="Text 2"/>
          <p:cNvSpPr/>
          <p:nvPr/>
        </p:nvSpPr>
        <p:spPr>
          <a:xfrm>
            <a:off x="595343" y="4714340"/>
            <a:ext cx="9782116" cy="163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«Қаржы орталығы» АҚ Бюджеттік қаржыландыру департаментінің директоры </a:t>
            </a:r>
            <a:r>
              <a:rPr lang="en-US" sz="1313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«Ваучерлік қаржыландыру: сапалы мектепке дейінгі білім беруге қадам»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тақырыбында ақпарат берді. Ваучерлік жүйе білім беру қызметтерінің қолжетімділігі мен бәсекеге қабілеттілігін арттыруға мүмкіндік береді.</a:t>
            </a:r>
            <a:endParaRPr lang="en-US" sz="131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компьютер, диспле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71E155-0AD5-B360-90CA-4BE5BE221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6" t="43055" r="13959" b="10556"/>
          <a:stretch>
            <a:fillRect/>
          </a:stretch>
        </p:blipFill>
        <p:spPr>
          <a:xfrm>
            <a:off x="539862" y="2194560"/>
            <a:ext cx="9893076" cy="426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5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535" y="1600379"/>
            <a:ext cx="9843731" cy="100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938"/>
              </a:lnSpc>
            </a:pPr>
            <a:r>
              <a:rPr lang="en-US" sz="3150" b="1" dirty="0">
                <a:solidFill>
                  <a:schemeClr val="accent1">
                    <a:lumMod val="50000"/>
                  </a:schemeClr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МЕКТЕПКЕ ДЕЙІНГІ ҰЙЫМДАР ҚЫЗМЕТІНІҢ БАСЫМ БАҒЫТТАРЫ</a:t>
            </a:r>
            <a:endParaRPr lang="en-US" sz="31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4535" y="2931082"/>
            <a:ext cx="9843731" cy="515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25"/>
              </a:lnSpc>
            </a:pPr>
            <a:r>
              <a:rPr lang="en-US" sz="1238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Қазақстанның әр өңірінен келген тәжірибелі мектепке дейінгі ұйым басшылары өздерінің </a:t>
            </a:r>
            <a:r>
              <a:rPr lang="en-US" sz="1238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инновациялық жобаларымен</a:t>
            </a:r>
            <a:r>
              <a:rPr lang="en-US" sz="1238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бөлісті.</a:t>
            </a:r>
            <a:endParaRPr lang="en-US" sz="1238" dirty="0"/>
          </a:p>
        </p:txBody>
      </p:sp>
      <p:sp>
        <p:nvSpPr>
          <p:cNvPr id="4" name="Shape 2"/>
          <p:cNvSpPr/>
          <p:nvPr/>
        </p:nvSpPr>
        <p:spPr>
          <a:xfrm>
            <a:off x="564535" y="3628490"/>
            <a:ext cx="3173700" cy="3000732"/>
          </a:xfrm>
          <a:prstGeom prst="roundRect">
            <a:avLst>
              <a:gd name="adj" fmla="val 225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" name="Shape 3"/>
          <p:cNvSpPr/>
          <p:nvPr/>
        </p:nvSpPr>
        <p:spPr>
          <a:xfrm>
            <a:off x="587395" y="3651350"/>
            <a:ext cx="3127980" cy="483900"/>
          </a:xfrm>
          <a:prstGeom prst="roundRect">
            <a:avLst>
              <a:gd name="adj" fmla="val 83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6" name="Text 4"/>
          <p:cNvSpPr/>
          <p:nvPr/>
        </p:nvSpPr>
        <p:spPr>
          <a:xfrm>
            <a:off x="748666" y="4296519"/>
            <a:ext cx="2805440" cy="503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575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Мультстудия және Жасанды Интеллект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48666" y="4897220"/>
            <a:ext cx="2805440" cy="1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25"/>
              </a:lnSpc>
            </a:pPr>
            <a:r>
              <a:rPr lang="en-US" sz="1238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Жанат Мухамбеткалиева,</a:t>
            </a:r>
            <a:r>
              <a:rPr lang="en-US" sz="1238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Қызылорда қаласы, «Бегім ана» бөбекжай-бақшасы. Мультфильм жасау арқылы балалардың шығармашылық және логикалық ойлау қабілеттерін дамыту.</a:t>
            </a:r>
            <a:endParaRPr lang="en-US" sz="1238" dirty="0"/>
          </a:p>
        </p:txBody>
      </p:sp>
      <p:sp>
        <p:nvSpPr>
          <p:cNvPr id="8" name="Shape 6"/>
          <p:cNvSpPr/>
          <p:nvPr/>
        </p:nvSpPr>
        <p:spPr>
          <a:xfrm>
            <a:off x="3899505" y="3628490"/>
            <a:ext cx="3173700" cy="3000732"/>
          </a:xfrm>
          <a:prstGeom prst="roundRect">
            <a:avLst>
              <a:gd name="adj" fmla="val 225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9" name="Shape 7"/>
          <p:cNvSpPr/>
          <p:nvPr/>
        </p:nvSpPr>
        <p:spPr>
          <a:xfrm>
            <a:off x="3922365" y="3651350"/>
            <a:ext cx="3127980" cy="483900"/>
          </a:xfrm>
          <a:prstGeom prst="roundRect">
            <a:avLst>
              <a:gd name="adj" fmla="val 83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0" name="Text 8"/>
          <p:cNvSpPr/>
          <p:nvPr/>
        </p:nvSpPr>
        <p:spPr>
          <a:xfrm>
            <a:off x="4083635" y="4296519"/>
            <a:ext cx="2420303" cy="251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575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Зерттеу әрекетін дамыту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083636" y="4645223"/>
            <a:ext cx="2805440" cy="128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25"/>
              </a:lnSpc>
            </a:pPr>
            <a:r>
              <a:rPr lang="en-US" sz="1238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Мереке Нурмуханова,</a:t>
            </a:r>
            <a:r>
              <a:rPr lang="en-US" sz="1238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Маңғыстау облысы, No 4 «Аққу» бөбекжай-бақшасы. Дәстүрден тыс әдістер арқылы балалардың танымдық белсенділігін арттыру.</a:t>
            </a:r>
            <a:endParaRPr lang="en-US" sz="1238" dirty="0"/>
          </a:p>
        </p:txBody>
      </p:sp>
      <p:sp>
        <p:nvSpPr>
          <p:cNvPr id="12" name="Shape 10"/>
          <p:cNvSpPr/>
          <p:nvPr/>
        </p:nvSpPr>
        <p:spPr>
          <a:xfrm>
            <a:off x="7234477" y="3628490"/>
            <a:ext cx="3173789" cy="3000732"/>
          </a:xfrm>
          <a:prstGeom prst="roundRect">
            <a:avLst>
              <a:gd name="adj" fmla="val 225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3" name="Shape 11"/>
          <p:cNvSpPr/>
          <p:nvPr/>
        </p:nvSpPr>
        <p:spPr>
          <a:xfrm>
            <a:off x="7257337" y="3651350"/>
            <a:ext cx="3128069" cy="483900"/>
          </a:xfrm>
          <a:prstGeom prst="roundRect">
            <a:avLst>
              <a:gd name="adj" fmla="val 83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4" name="Text 12"/>
          <p:cNvSpPr/>
          <p:nvPr/>
        </p:nvSpPr>
        <p:spPr>
          <a:xfrm>
            <a:off x="7418606" y="4296519"/>
            <a:ext cx="2277160" cy="251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575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Ерте кәсіптік бағдарлау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418605" y="4645223"/>
            <a:ext cx="2805530" cy="128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25"/>
              </a:lnSpc>
            </a:pPr>
            <a:r>
              <a:rPr lang="en-US" sz="1238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Гүлжария Кубекова,</a:t>
            </a:r>
            <a:r>
              <a:rPr lang="en-US" sz="1238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Алматы қаласы, No76 бөбекжай-бақшасы. Бейнематериалдар арқылы балаларды әртүрлі мамандықтармен таныстыру.</a:t>
            </a:r>
            <a:endParaRPr lang="en-US" sz="123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Мультимедийное программное обеспечение, виде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67C9F3-8045-768B-51AA-1C64DF47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44" b="48333"/>
          <a:stretch>
            <a:fillRect/>
          </a:stretch>
        </p:blipFill>
        <p:spPr>
          <a:xfrm>
            <a:off x="954976" y="1517333"/>
            <a:ext cx="5855875" cy="282892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мультимедиа, снимок экрана, виде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018131-EE46-BC0B-354D-1A08A51A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7" t="37083" r="15881" b="47222"/>
          <a:stretch>
            <a:fillRect/>
          </a:stretch>
        </p:blipFill>
        <p:spPr>
          <a:xfrm>
            <a:off x="3746183" y="4551998"/>
            <a:ext cx="5949315" cy="253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8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466" y="826751"/>
            <a:ext cx="9805868" cy="10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088"/>
              </a:lnSpc>
            </a:pPr>
            <a:r>
              <a:rPr lang="en-US" sz="3263" b="1" dirty="0">
                <a:solidFill>
                  <a:schemeClr val="accent1">
                    <a:lumMod val="50000"/>
                  </a:schemeClr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ШЕБЕРХАНАДАН – БАЛАБАҚШАҒА: ДАМЫТУШЫ ОЙЫНШЫҚТАРДЫҢ ЖОЛЫ</a:t>
            </a:r>
            <a:endParaRPr lang="en-US" sz="3263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7333" y="1868845"/>
            <a:ext cx="9678134" cy="887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13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Ш.Мұртаза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13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атынд</a:t>
            </a:r>
            <a:r>
              <a:rPr lang="ru-RU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</a:t>
            </a:r>
            <a:r>
              <a:rPr lang="kk-KZ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ғы </a:t>
            </a:r>
            <a:r>
              <a:rPr lang="en-US" sz="1313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халықаралық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Тараз университеті, </a:t>
            </a:r>
            <a:r>
              <a:rPr lang="kk-KZ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13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Абай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атындағы Жамбыл гуманитарлық жоғары колледжі және Жамбыл облысы, Тараз қаласы No18 «Еркежан» бөбекжай-бақшасының бірлескен жұмысының нәтижесінде </a:t>
            </a:r>
            <a:r>
              <a:rPr lang="en-US" sz="1313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«Тұлпар» дамыту ойыншығы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13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таныстырылды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13" dirty="0"/>
          </a:p>
        </p:txBody>
      </p:sp>
      <p:pic>
        <p:nvPicPr>
          <p:cNvPr id="9" name="Рисунок 8" descr="Изображение выглядит как текст, мультимедиа, снимок экрана, СМ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B5A6CD-B7D8-3666-6DB5-AFE3EDDDB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78" t="35371" r="13767" b="45216"/>
          <a:stretch>
            <a:fillRect/>
          </a:stretch>
        </p:blipFill>
        <p:spPr>
          <a:xfrm>
            <a:off x="1536699" y="2910939"/>
            <a:ext cx="8176944" cy="45312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в помещении, экр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63C3E4-D8C8-41C4-7F47-EA8F359AD4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t="24074" r="12037" b="15586"/>
          <a:stretch>
            <a:fillRect/>
          </a:stretch>
        </p:blipFill>
        <p:spPr>
          <a:xfrm>
            <a:off x="177118" y="1016000"/>
            <a:ext cx="10618564" cy="566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5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287" y="1483043"/>
            <a:ext cx="9816227" cy="1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050"/>
              </a:lnSpc>
            </a:pPr>
            <a:r>
              <a:rPr lang="en-US" sz="3225" b="1" dirty="0">
                <a:solidFill>
                  <a:schemeClr val="accent1">
                    <a:lumMod val="50000"/>
                  </a:schemeClr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«ТІЛГЕ БОЙЛАУ» - БАЛАЛАРҒА ОЙЫН АРҚЫЛЫ ҚАЗАҚ ТІЛІН ҮЙРЕТУ</a:t>
            </a:r>
            <a:endParaRPr lang="en-US" sz="3225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78287" y="2846071"/>
            <a:ext cx="9816227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275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Қостанай және Ақмола облыстарының педагогтері өз тәжірибелерімен бөлісіп, </a:t>
            </a:r>
            <a:r>
              <a:rPr lang="en-US" sz="1275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қазақ тілін ойын арқылы оқытудың</a:t>
            </a:r>
            <a:r>
              <a:rPr lang="en-US" sz="1275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тиімді әдістерін көрсетті. Бұл әдістеме балалардың тілді үйренуге деген қызығушылығын арттырып, оқу процесін жеңілдетеді.</a:t>
            </a:r>
            <a:endParaRPr lang="en-US" sz="1275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87" y="3824853"/>
            <a:ext cx="3134410" cy="1937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8287" y="5927259"/>
            <a:ext cx="2606040" cy="25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25"/>
              </a:lnSpc>
            </a:pPr>
            <a:r>
              <a:rPr lang="en-US" sz="1613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Қызығушылықты арттыру</a:t>
            </a:r>
            <a:endParaRPr lang="en-US" sz="1613" dirty="0"/>
          </a:p>
        </p:txBody>
      </p:sp>
      <p:sp>
        <p:nvSpPr>
          <p:cNvPr id="6" name="Text 3"/>
          <p:cNvSpPr/>
          <p:nvPr/>
        </p:nvSpPr>
        <p:spPr>
          <a:xfrm>
            <a:off x="578287" y="6284536"/>
            <a:ext cx="313441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275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Ойын арқылы тіл үйрену балалардың ынтасын арттырады.</a:t>
            </a:r>
            <a:endParaRPr lang="en-US" sz="127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151" y="3824853"/>
            <a:ext cx="3134410" cy="19372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19150" y="5927259"/>
            <a:ext cx="2065259" cy="25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25"/>
              </a:lnSpc>
            </a:pPr>
            <a:r>
              <a:rPr lang="en-US" sz="1613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Жеңіл әрі тиімді</a:t>
            </a:r>
            <a:endParaRPr lang="en-US" sz="1613" dirty="0"/>
          </a:p>
        </p:txBody>
      </p:sp>
      <p:sp>
        <p:nvSpPr>
          <p:cNvPr id="9" name="Text 5"/>
          <p:cNvSpPr/>
          <p:nvPr/>
        </p:nvSpPr>
        <p:spPr>
          <a:xfrm>
            <a:off x="3919151" y="6284536"/>
            <a:ext cx="313441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275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Балалар тілді табиғи түрде меңгереді, стресссіз.</a:t>
            </a:r>
            <a:endParaRPr lang="en-US" sz="127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014" y="3824853"/>
            <a:ext cx="3134499" cy="19372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0014" y="5927259"/>
            <a:ext cx="2065259" cy="25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25"/>
              </a:lnSpc>
            </a:pPr>
            <a:r>
              <a:rPr lang="en-US" sz="1613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Интерактивті оқыту</a:t>
            </a:r>
            <a:endParaRPr lang="en-US" sz="1613" dirty="0"/>
          </a:p>
        </p:txBody>
      </p:sp>
      <p:sp>
        <p:nvSpPr>
          <p:cNvPr id="12" name="Text 7"/>
          <p:cNvSpPr/>
          <p:nvPr/>
        </p:nvSpPr>
        <p:spPr>
          <a:xfrm>
            <a:off x="7260014" y="6284536"/>
            <a:ext cx="3134499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275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Түрлі ойындар мен жаттығулар арқылы білімді бекіту.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43" y="1718430"/>
            <a:ext cx="9716125" cy="53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63"/>
              </a:lnSpc>
            </a:pPr>
            <a:r>
              <a:rPr lang="en-US" sz="3338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БАЛАБАҚШАДАН – МЕКТЕПКЕ СӘТТІ ӨТУ ЖОЛЫ</a:t>
            </a:r>
            <a:endParaRPr lang="en-US" sz="3338" dirty="0"/>
          </a:p>
        </p:txBody>
      </p:sp>
      <p:sp>
        <p:nvSpPr>
          <p:cNvPr id="3" name="Text 1"/>
          <p:cNvSpPr/>
          <p:nvPr/>
        </p:nvSpPr>
        <p:spPr>
          <a:xfrm>
            <a:off x="595343" y="2590235"/>
            <a:ext cx="978211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Өскемен және Қарағанды қалаларының мектеп-кешендерінің директорлары балабақшадан мектепке ауысу кезеңіндегі </a:t>
            </a:r>
            <a:r>
              <a:rPr lang="en-US" sz="1313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қиындықтарды жеңу және бейімделу</a:t>
            </a: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мәселелері бойынша баяндама жасады.</a:t>
            </a:r>
            <a:endParaRPr lang="en-US" sz="1313" dirty="0"/>
          </a:p>
        </p:txBody>
      </p:sp>
      <p:sp>
        <p:nvSpPr>
          <p:cNvPr id="4" name="Shape 2"/>
          <p:cNvSpPr/>
          <p:nvPr/>
        </p:nvSpPr>
        <p:spPr>
          <a:xfrm>
            <a:off x="595343" y="4918562"/>
            <a:ext cx="9782116" cy="22860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5" name="Shape 3"/>
          <p:cNvSpPr/>
          <p:nvPr/>
        </p:nvSpPr>
        <p:spPr>
          <a:xfrm>
            <a:off x="2476470" y="4408229"/>
            <a:ext cx="22860" cy="510332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6" name="Shape 4"/>
          <p:cNvSpPr/>
          <p:nvPr/>
        </p:nvSpPr>
        <p:spPr>
          <a:xfrm>
            <a:off x="2296537" y="4727198"/>
            <a:ext cx="382727" cy="382727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7" name="Text 5"/>
          <p:cNvSpPr/>
          <p:nvPr/>
        </p:nvSpPr>
        <p:spPr>
          <a:xfrm>
            <a:off x="2360340" y="4759078"/>
            <a:ext cx="255122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88"/>
              </a:lnSpc>
            </a:pPr>
            <a:r>
              <a:rPr lang="en-US" sz="1988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</a:t>
            </a:r>
            <a:endParaRPr lang="en-US" sz="1988" dirty="0"/>
          </a:p>
        </p:txBody>
      </p:sp>
      <p:sp>
        <p:nvSpPr>
          <p:cNvPr id="8" name="Text 6"/>
          <p:cNvSpPr/>
          <p:nvPr/>
        </p:nvSpPr>
        <p:spPr>
          <a:xfrm>
            <a:off x="1424732" y="3325951"/>
            <a:ext cx="212642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Дайындық кезеңі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5453" y="3693766"/>
            <a:ext cx="34449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Мектепке дейінгі дайындықтың маңызы.</a:t>
            </a:r>
            <a:endParaRPr lang="en-US" sz="1313" dirty="0"/>
          </a:p>
        </p:txBody>
      </p:sp>
      <p:sp>
        <p:nvSpPr>
          <p:cNvPr id="10" name="Shape 8"/>
          <p:cNvSpPr/>
          <p:nvPr/>
        </p:nvSpPr>
        <p:spPr>
          <a:xfrm>
            <a:off x="4475470" y="4918561"/>
            <a:ext cx="22860" cy="510332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1" name="Shape 9"/>
          <p:cNvSpPr/>
          <p:nvPr/>
        </p:nvSpPr>
        <p:spPr>
          <a:xfrm>
            <a:off x="4295536" y="4727198"/>
            <a:ext cx="382727" cy="382727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2" name="Text 10"/>
          <p:cNvSpPr/>
          <p:nvPr/>
        </p:nvSpPr>
        <p:spPr>
          <a:xfrm>
            <a:off x="4359340" y="4759078"/>
            <a:ext cx="255122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88"/>
              </a:lnSpc>
            </a:pPr>
            <a:r>
              <a:rPr lang="en-US" sz="1988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2</a:t>
            </a:r>
            <a:endParaRPr lang="en-US" sz="1988" dirty="0"/>
          </a:p>
        </p:txBody>
      </p:sp>
      <p:sp>
        <p:nvSpPr>
          <p:cNvPr id="13" name="Text 11"/>
          <p:cNvSpPr/>
          <p:nvPr/>
        </p:nvSpPr>
        <p:spPr>
          <a:xfrm>
            <a:off x="3293001" y="5599003"/>
            <a:ext cx="2387709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Психологиялық қолдау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764364" y="5966817"/>
            <a:ext cx="344507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Балалар мен ата-аналарға арналған көмек.</a:t>
            </a:r>
            <a:endParaRPr lang="en-US" sz="1313" dirty="0"/>
          </a:p>
        </p:txBody>
      </p:sp>
      <p:sp>
        <p:nvSpPr>
          <p:cNvPr id="15" name="Shape 13"/>
          <p:cNvSpPr/>
          <p:nvPr/>
        </p:nvSpPr>
        <p:spPr>
          <a:xfrm>
            <a:off x="6474381" y="4408229"/>
            <a:ext cx="22860" cy="510332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16" name="Shape 14"/>
          <p:cNvSpPr/>
          <p:nvPr/>
        </p:nvSpPr>
        <p:spPr>
          <a:xfrm>
            <a:off x="6294448" y="4727198"/>
            <a:ext cx="382727" cy="382727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7" name="Text 15"/>
          <p:cNvSpPr/>
          <p:nvPr/>
        </p:nvSpPr>
        <p:spPr>
          <a:xfrm>
            <a:off x="6358250" y="4759078"/>
            <a:ext cx="255122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88"/>
              </a:lnSpc>
            </a:pPr>
            <a:r>
              <a:rPr lang="en-US" sz="1988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</a:t>
            </a:r>
            <a:endParaRPr lang="en-US" sz="1988" dirty="0"/>
          </a:p>
        </p:txBody>
      </p:sp>
      <p:sp>
        <p:nvSpPr>
          <p:cNvPr id="18" name="Text 16"/>
          <p:cNvSpPr/>
          <p:nvPr/>
        </p:nvSpPr>
        <p:spPr>
          <a:xfrm>
            <a:off x="5422553" y="3325951"/>
            <a:ext cx="212642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Үздіксіз білім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763275" y="3693765"/>
            <a:ext cx="344507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Балабақша мен мектеп арасындағы сабақтастық.</a:t>
            </a:r>
            <a:endParaRPr lang="en-US" sz="1313" dirty="0"/>
          </a:p>
        </p:txBody>
      </p:sp>
      <p:sp>
        <p:nvSpPr>
          <p:cNvPr id="20" name="Shape 18"/>
          <p:cNvSpPr/>
          <p:nvPr/>
        </p:nvSpPr>
        <p:spPr>
          <a:xfrm>
            <a:off x="8473381" y="4918561"/>
            <a:ext cx="22860" cy="510332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/>
        </p:spPr>
        <p:txBody>
          <a:bodyPr/>
          <a:lstStyle/>
          <a:p>
            <a:endParaRPr lang="ru-RU" sz="1350"/>
          </a:p>
        </p:txBody>
      </p:sp>
      <p:sp>
        <p:nvSpPr>
          <p:cNvPr id="21" name="Shape 19"/>
          <p:cNvSpPr/>
          <p:nvPr/>
        </p:nvSpPr>
        <p:spPr>
          <a:xfrm>
            <a:off x="8293447" y="4727198"/>
            <a:ext cx="382727" cy="382727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2" name="Text 20"/>
          <p:cNvSpPr/>
          <p:nvPr/>
        </p:nvSpPr>
        <p:spPr>
          <a:xfrm>
            <a:off x="8357250" y="4759078"/>
            <a:ext cx="255122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88"/>
              </a:lnSpc>
            </a:pPr>
            <a:r>
              <a:rPr lang="en-US" sz="1988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4</a:t>
            </a:r>
            <a:endParaRPr lang="en-US" sz="1988" dirty="0"/>
          </a:p>
        </p:txBody>
      </p:sp>
      <p:sp>
        <p:nvSpPr>
          <p:cNvPr id="23" name="Text 21"/>
          <p:cNvSpPr/>
          <p:nvPr/>
        </p:nvSpPr>
        <p:spPr>
          <a:xfrm>
            <a:off x="7421553" y="5599003"/>
            <a:ext cx="212642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Бейімделу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762274" y="5966818"/>
            <a:ext cx="344507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Жаңа ортаға тез үйрену жолдары.</a:t>
            </a:r>
            <a:endParaRPr lang="en-US" sz="131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1399" y="1649582"/>
            <a:ext cx="4310003" cy="53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63"/>
              </a:lnSpc>
            </a:pPr>
            <a:r>
              <a:rPr lang="en-US" sz="3338" dirty="0">
                <a:solidFill>
                  <a:srgbClr val="DFAB58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Негізгі Түйіндемелер</a:t>
            </a:r>
            <a:endParaRPr lang="en-US" sz="3338" dirty="0"/>
          </a:p>
        </p:txBody>
      </p:sp>
      <p:sp>
        <p:nvSpPr>
          <p:cNvPr id="3" name="Shape 1"/>
          <p:cNvSpPr/>
          <p:nvPr/>
        </p:nvSpPr>
        <p:spPr>
          <a:xfrm>
            <a:off x="595343" y="2521387"/>
            <a:ext cx="4805958" cy="1944261"/>
          </a:xfrm>
          <a:prstGeom prst="roundRect">
            <a:avLst>
              <a:gd name="adj" fmla="val 3675"/>
            </a:avLst>
          </a:prstGeom>
          <a:solidFill>
            <a:srgbClr val="FDF4DB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68" y="2697212"/>
            <a:ext cx="510332" cy="51033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42" y="2808834"/>
            <a:ext cx="229583" cy="287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169" y="3377654"/>
            <a:ext cx="212642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Сапаға басымдық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71168" y="3745469"/>
            <a:ext cx="445430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Мектепке дейінгі білім берудегі басты назар сапа мен инновацияларға аударылады.</a:t>
            </a:r>
            <a:endParaRPr lang="en-US" sz="1313" dirty="0"/>
          </a:p>
        </p:txBody>
      </p:sp>
      <p:sp>
        <p:nvSpPr>
          <p:cNvPr id="8" name="Shape 4"/>
          <p:cNvSpPr/>
          <p:nvPr/>
        </p:nvSpPr>
        <p:spPr>
          <a:xfrm>
            <a:off x="5571412" y="2521387"/>
            <a:ext cx="4806047" cy="1944261"/>
          </a:xfrm>
          <a:prstGeom prst="roundRect">
            <a:avLst>
              <a:gd name="adj" fmla="val 3675"/>
            </a:avLst>
          </a:prstGeom>
          <a:solidFill>
            <a:srgbClr val="FDF4DB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7236" y="2697212"/>
            <a:ext cx="510332" cy="51033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7611" y="2808834"/>
            <a:ext cx="229583" cy="287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47237" y="3377654"/>
            <a:ext cx="2558713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Ынтымақтастық маңызы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747237" y="3745469"/>
            <a:ext cx="445439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Білім беру мекемелері, университеттер және қаржы ұйымдары арасындағы серіктестік.</a:t>
            </a:r>
            <a:endParaRPr lang="en-US" sz="1313" dirty="0"/>
          </a:p>
        </p:txBody>
      </p:sp>
      <p:sp>
        <p:nvSpPr>
          <p:cNvPr id="13" name="Shape 7"/>
          <p:cNvSpPr/>
          <p:nvPr/>
        </p:nvSpPr>
        <p:spPr>
          <a:xfrm>
            <a:off x="595343" y="4635758"/>
            <a:ext cx="4805958" cy="1944261"/>
          </a:xfrm>
          <a:prstGeom prst="roundRect">
            <a:avLst>
              <a:gd name="adj" fmla="val 3675"/>
            </a:avLst>
          </a:prstGeom>
          <a:solidFill>
            <a:srgbClr val="FDF4DB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68" y="4811584"/>
            <a:ext cx="510332" cy="51033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542" y="4923205"/>
            <a:ext cx="229583" cy="2870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1168" y="5492026"/>
            <a:ext cx="238181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Инновациялық әдістер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771168" y="5859840"/>
            <a:ext cx="445430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Жасанды интеллект, мультстудиялар және ойын арқылы тіл үйрету.</a:t>
            </a:r>
            <a:endParaRPr lang="en-US" sz="1313" dirty="0"/>
          </a:p>
        </p:txBody>
      </p:sp>
      <p:sp>
        <p:nvSpPr>
          <p:cNvPr id="18" name="Shape 10"/>
          <p:cNvSpPr/>
          <p:nvPr/>
        </p:nvSpPr>
        <p:spPr>
          <a:xfrm>
            <a:off x="5571412" y="4635758"/>
            <a:ext cx="4806047" cy="1944261"/>
          </a:xfrm>
          <a:prstGeom prst="roundRect">
            <a:avLst>
              <a:gd name="adj" fmla="val 3675"/>
            </a:avLst>
          </a:prstGeom>
          <a:solidFill>
            <a:srgbClr val="FDF4DB"/>
          </a:solidFill>
          <a:ln w="7620">
            <a:solidFill>
              <a:srgbClr val="F8ECD3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7236" y="4811584"/>
            <a:ext cx="510332" cy="51033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7611" y="4923205"/>
            <a:ext cx="229583" cy="2870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747237" y="5492026"/>
            <a:ext cx="212642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Үздіксіз даму</a:t>
            </a:r>
            <a:endParaRPr lang="en-US" sz="1650" dirty="0"/>
          </a:p>
        </p:txBody>
      </p:sp>
      <p:sp>
        <p:nvSpPr>
          <p:cNvPr id="22" name="Text 12"/>
          <p:cNvSpPr/>
          <p:nvPr/>
        </p:nvSpPr>
        <p:spPr>
          <a:xfrm>
            <a:off x="5747237" y="5859840"/>
            <a:ext cx="445439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3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Балабақшадан мектепке сәтті өтуді қамтамасыз ету.</a:t>
            </a:r>
            <a:endParaRPr lang="en-US" sz="131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8700"/>
            <a:ext cx="4320540" cy="6172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7284" y="3296216"/>
            <a:ext cx="4252943" cy="53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63"/>
              </a:lnSpc>
            </a:pPr>
            <a:r>
              <a:rPr lang="en-US" sz="3338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РАХМЕТ!</a:t>
            </a:r>
            <a:endParaRPr lang="en-US" sz="3338" dirty="0"/>
          </a:p>
        </p:txBody>
      </p:sp>
      <p:sp>
        <p:nvSpPr>
          <p:cNvPr id="4" name="Text 1"/>
          <p:cNvSpPr/>
          <p:nvPr/>
        </p:nvSpPr>
        <p:spPr>
          <a:xfrm>
            <a:off x="4710143" y="4082922"/>
            <a:ext cx="5667316" cy="850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38"/>
              </a:lnSpc>
            </a:pPr>
            <a:r>
              <a:rPr lang="en-US" sz="2663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Сұрақтарыңыз болса, қойыңыздар.</a:t>
            </a:r>
            <a:endParaRPr lang="en-US" sz="26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471</Words>
  <Application>Microsoft Office PowerPoint</Application>
  <PresentationFormat>Произвольный</PresentationFormat>
  <Paragraphs>68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Calibri Light</vt:lpstr>
      <vt:lpstr>Calibri</vt:lpstr>
      <vt:lpstr>Cambria</vt:lpstr>
      <vt:lpstr>Arial</vt:lpstr>
      <vt:lpstr>Inter</vt:lpstr>
      <vt:lpstr>Bricolage Grotesque Semi Bold</vt:lpstr>
      <vt:lpstr>Тема Office 2013–2022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ногайбекова бахытгуль</cp:lastModifiedBy>
  <cp:revision>2</cp:revision>
  <dcterms:created xsi:type="dcterms:W3CDTF">2025-08-16T06:46:50Z</dcterms:created>
  <dcterms:modified xsi:type="dcterms:W3CDTF">2025-08-16T07:03:18Z</dcterms:modified>
</cp:coreProperties>
</file>